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eague Spartan" charset="1" panose="000008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spreadsheets/d/1DUF2isFWsqVSYhbaACYtbgcLi_YjDqpE3GLQIVgkKQg/edit#gid=69851113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DUF2isFWsqVSYhbaACYtbgcLi_YjDqpE3GLQIVgkKQg/edit#gid=69851113" TargetMode="External" Type="http://schemas.openxmlformats.org/officeDocument/2006/relationships/hyperlink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spreadsheets/d/1DUF2isFWsqVSYhbaACYtbgcLi_YjDqpE3GLQIVgkKQg/edit#gid=69851113" TargetMode="External" Type="http://schemas.openxmlformats.org/officeDocument/2006/relationships/hyperlink"/><Relationship Id="rId3" Target="https://docs.google.com/spreadsheets/d/1DUF2isFWsqVSYhbaACYtbgcLi_YjDqpE3GLQIVgkKQg/edit#gid=69851113" TargetMode="External" Type="http://schemas.openxmlformats.org/officeDocument/2006/relationships/hyperlink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DUF2isFWsqVSYhbaACYtbgcLi_YjDqpE3GLQIVgkKQg/edit#gid=69851113" TargetMode="External" Type="http://schemas.openxmlformats.org/officeDocument/2006/relationships/hyperlink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https://www.figma.com/design/65a1CVdhR7SFSMDMPE7XG1/Chatbot-TI?node-id=0-1&amp;t=AxPi2VKN4B8LYNRa-1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DUF2isFWsqVSYhbaACYtbgcLi_YjDqpE3GLQIVgkKQg/edit#gid=69851113" TargetMode="External" Type="http://schemas.openxmlformats.org/officeDocument/2006/relationships/hyperlink"/><Relationship Id="rId11" Target="https://docs.google.com/spreadsheets/d/1DUF2isFWsqVSYhbaACYtbgcLi_YjDqpE3GLQIVgkKQg/edit#gid=69851113" TargetMode="External" Type="http://schemas.openxmlformats.org/officeDocument/2006/relationships/hyperlink"/><Relationship Id="rId12" Target="https://docs.google.com/spreadsheets/d/1DUF2isFWsqVSYhbaACYtbgcLi_YjDqpE3GLQIVgkKQg/edit#gid=69851113" TargetMode="External" Type="http://schemas.openxmlformats.org/officeDocument/2006/relationships/hyperlink"/><Relationship Id="rId13" Target="https://docs.google.com/spreadsheets/d/1DUF2isFWsqVSYhbaACYtbgcLi_YjDqpE3GLQIVgkKQg/edit#gid=69851113" TargetMode="External" Type="http://schemas.openxmlformats.org/officeDocument/2006/relationships/hyperlink"/><Relationship Id="rId14" Target="https://docs.google.com/spreadsheets/d/1DUF2isFWsqVSYhbaACYtbgcLi_YjDqpE3GLQIVgkKQg/edit#gid=69851113" TargetMode="External" Type="http://schemas.openxmlformats.org/officeDocument/2006/relationships/hyperlink"/><Relationship Id="rId15" Target="https://docs.google.com/spreadsheets/d/1DUF2isFWsqVSYhbaACYtbgcLi_YjDqpE3GLQIVgkKQg/edit#gid=69851113" TargetMode="External" Type="http://schemas.openxmlformats.org/officeDocument/2006/relationships/hyperlink"/><Relationship Id="rId16" Target="https://docs.google.com/spreadsheets/d/1DUF2isFWsqVSYhbaACYtbgcLi_YjDqpE3GLQIVgkKQg/edit#gid=69851113" TargetMode="External" Type="http://schemas.openxmlformats.org/officeDocument/2006/relationships/hyperlink"/><Relationship Id="rId17" Target="https://docs.google.com/spreadsheets/d/1DUF2isFWsqVSYhbaACYtbgcLi_YjDqpE3GLQIVgkKQg/edit#gid=69851113" TargetMode="External" Type="http://schemas.openxmlformats.org/officeDocument/2006/relationships/hyperlink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5200" y="205740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06540"/>
            <a:ext cx="14164008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PROTEJO INTEGRADO SI + SE CHAT BOT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6827212"/>
            <a:ext cx="7082004" cy="1757715"/>
            <a:chOff x="0" y="0"/>
            <a:chExt cx="9442672" cy="234362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38770"/>
              <a:ext cx="9442672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0"/>
              <a:ext cx="9442672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Lucas Luvisa Braga Ramos</a:t>
              </a:r>
            </a:p>
            <a:p>
              <a:pPr algn="l" marL="0" indent="0" lvl="0">
                <a:lnSpc>
                  <a:spcPts val="45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Vinícius Tavares de Abreu Silva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2100354">
            <a:off x="-5281274" y="-842203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0900"/>
            <a:ext cx="12598088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Criação de um s</a:t>
            </a: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2" tooltip="https://docs.google.com/spreadsheets/d/1DUF2isFWsqVSYhbaACYtbgcLi_YjDqpE3GLQIVgkKQg/edit#gid=69851113"/>
              </a:rPr>
              <a:t>istema Chatbot-Ticket desenvolvido para a Prefeitura Municipal de Cruzeiro.</a:t>
            </a:r>
          </a:p>
          <a:p>
            <a:pPr algn="l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Objetivo de: compreender processos internos e problemas informacionais para propor um sistema que melhore o fluxo de atendimento de TI.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66775"/>
            <a:ext cx="15417488" cy="144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94"/>
              </a:lnSpc>
            </a:pPr>
            <a:r>
              <a:rPr lang="en-US" sz="8424" spc="42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INTRODUÇÃO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412537" y="2014560"/>
            <a:ext cx="7331825" cy="10287000"/>
          </a:xfrm>
          <a:custGeom>
            <a:avLst/>
            <a:gdLst/>
            <a:ahLst/>
            <a:cxnLst/>
            <a:rect r="r" b="b" t="t" l="l"/>
            <a:pathLst>
              <a:path h="10287000" w="7331825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18420" y="1415029"/>
            <a:ext cx="560936" cy="599530"/>
          </a:xfrm>
          <a:custGeom>
            <a:avLst/>
            <a:gdLst/>
            <a:ahLst/>
            <a:cxnLst/>
            <a:rect r="r" b="b" t="t" l="l"/>
            <a:pathLst>
              <a:path h="599530" w="560936">
                <a:moveTo>
                  <a:pt x="0" y="0"/>
                </a:moveTo>
                <a:lnTo>
                  <a:pt x="560935" y="0"/>
                </a:lnTo>
                <a:lnTo>
                  <a:pt x="560935" y="599531"/>
                </a:lnTo>
                <a:lnTo>
                  <a:pt x="0" y="599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83064" y="8183563"/>
            <a:ext cx="4760933" cy="746760"/>
            <a:chOff x="0" y="0"/>
            <a:chExt cx="6347910" cy="9956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21804" y="-47625"/>
              <a:ext cx="5326106" cy="1043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  <a:hlinkClick r:id="rId6" tooltip="https://docs.google.com/spreadsheets/d/1DUF2isFWsqVSYhbaACYtbgcLi_YjDqpE3GLQIVgkKQg/edit#gid=69851113"/>
                </a:rPr>
                <a:t>Descreva a dor que você está aliviando ou o prazer que você está fornecendo. O objetivo é mudar a taxa de retorno dos investidores.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914" cy="799374"/>
            </a:xfrm>
            <a:custGeom>
              <a:avLst/>
              <a:gdLst/>
              <a:ahLst/>
              <a:cxnLst/>
              <a:rect r="r" b="b" t="t" l="l"/>
              <a:pathLst>
                <a:path h="799374" w="747914">
                  <a:moveTo>
                    <a:pt x="0" y="0"/>
                  </a:moveTo>
                  <a:lnTo>
                    <a:pt x="747914" y="0"/>
                  </a:lnTo>
                  <a:lnTo>
                    <a:pt x="747914" y="799374"/>
                  </a:lnTo>
                  <a:lnTo>
                    <a:pt x="0" y="799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3713049" cy="3633491"/>
            <a:chOff x="0" y="0"/>
            <a:chExt cx="18284065" cy="484465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8284065" cy="326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ANÁLISE ORGANIZACIONAL (SI)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737636"/>
              <a:ext cx="10131728" cy="1107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49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Descrição da Empresa</a:t>
              </a:r>
              <a:r>
                <a:rPr lang="en-US" sz="49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29150"/>
            <a:ext cx="9131523" cy="496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stituição pública de porte médio.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Atua em diversas áreas: saúde, educação, infraestrutura, transporte e atendimento ao cidadão.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Sistema focado no suporte às máquinas utilizadas pelos servidores (computadores, impressoras etc.).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Missão: oferecer serviços ágeis, eficientes e com qualidade.</a:t>
            </a:r>
          </a:p>
          <a:p>
            <a:pPr algn="l">
              <a:lnSpc>
                <a:spcPts val="49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35355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9950" y="-1571625"/>
            <a:ext cx="10382250" cy="15830550"/>
            <a:chOff x="0" y="0"/>
            <a:chExt cx="13843000" cy="21107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489200" y="4457700"/>
              <a:ext cx="10591800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0515600"/>
              <a:ext cx="10591800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251200" y="0"/>
              <a:ext cx="10591800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72300" y="2856547"/>
            <a:ext cx="9191296" cy="186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ocs.google.com/spreadsheets/d/1DUF2isFWsqVSYhbaACYtbgcLi_YjDqpE3GLQIVgkKQg/edit#gid=69851113"/>
              </a:rPr>
              <a:t>Setor de TI responsável pela manutenção de equipamentos.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docs.google.com/spreadsheets/d/1DUF2isFWsqVSYhbaACYtbgcLi_YjDqpE3GLQIVgkKQg/edit#gid=69851113"/>
              </a:rPr>
              <a:t>Necessidade de controle, organização e registro das demandas de suporte.</a:t>
            </a: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558743" y="1019175"/>
            <a:ext cx="801841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PROCESSOS DE NEGÓCIO (TI)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8743" y="4709478"/>
            <a:ext cx="801841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PROBLEMAS IDENTIFICADOS: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72300" y="6547803"/>
            <a:ext cx="9191296" cy="318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docs.google.com/spreadsheets/d/1DUF2isFWsqVSYhbaACYtbgcLi_YjDqpE3GLQIVgkKQg/edit#gid=69851113"/>
              </a:rPr>
              <a:t>Falta de sistema para abertura formal de chamados.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7" tooltip="https://docs.google.com/spreadsheets/d/1DUF2isFWsqVSYhbaACYtbgcLi_YjDqpE3GLQIVgkKQg/edit#gid=69851113"/>
              </a:rPr>
              <a:t>Servidores precisam ir presencialmente ao TI.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docs.google.com/spreadsheets/d/1DUF2isFWsqVSYhbaACYtbgcLi_YjDqpE3GLQIVgkKQg/edit#gid=69851113"/>
              </a:rPr>
              <a:t>Perda de tempo e acúmulo de demandas.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9" tooltip="https://docs.google.com/spreadsheets/d/1DUF2isFWsqVSYhbaACYtbgcLi_YjDqpE3GLQIVgkKQg/edit#gid=69851113"/>
              </a:rPr>
              <a:t>Falta de priorização e histórico de atendimentos.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10" tooltip="https://docs.google.com/spreadsheets/d/1DUF2isFWsqVSYhbaACYtbgcLi_YjDqpE3GLQIVgkKQg/edit#gid=69851113"/>
              </a:rPr>
              <a:t>Comunicação falha entre departamentos.</a:t>
            </a:r>
          </a:p>
          <a:p>
            <a:pPr algn="l">
              <a:lnSpc>
                <a:spcPts val="32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5371" y="4516343"/>
            <a:ext cx="10155507" cy="416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122" indent="-299561" lvl="1">
              <a:lnSpc>
                <a:spcPts val="5550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2" tooltip="https://docs.google.com/spreadsheets/d/1DUF2isFWsqVSYhbaACYtbgcLi_YjDqpE3GLQIVgkKQg/edit#gid=69851113"/>
              </a:rPr>
              <a:t>Chatbot no WhatsApp facilita a comunicação inicial entre servidores e TI.</a:t>
            </a:r>
          </a:p>
          <a:p>
            <a:pPr algn="l" marL="599122" indent="-299561" lvl="1">
              <a:lnSpc>
                <a:spcPts val="5550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docs.google.com/spreadsheets/d/1DUF2isFWsqVSYhbaACYtbgcLi_YjDqpE3GLQIVgkKQg/edit#gid=69851113"/>
              </a:rPr>
              <a:t>Coleta automática de informações sobre o problema.</a:t>
            </a:r>
          </a:p>
          <a:p>
            <a:pPr algn="l" marL="599122" indent="-299561" lvl="1">
              <a:lnSpc>
                <a:spcPts val="5550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ocs.google.com/spreadsheets/d/1DUF2isFWsqVSYhbaACYtbgcLi_YjDqpE3GLQIVgkKQg/edit#gid=69851113"/>
              </a:rPr>
              <a:t>Envio direto para o setor responsável.</a:t>
            </a:r>
          </a:p>
          <a:p>
            <a:pPr algn="l" marL="599122" indent="-299561" lvl="1">
              <a:lnSpc>
                <a:spcPts val="5550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docs.google.com/spreadsheets/d/1DUF2isFWsqVSYhbaACYtbgcLi_YjDqpE3GLQIVgkKQg/edit#gid=69851113"/>
              </a:rPr>
              <a:t>Padronização, organização e agilidade no processo.</a:t>
            </a:r>
          </a:p>
          <a:p>
            <a:pPr algn="l" marL="599122" indent="-299561" lvl="1">
              <a:lnSpc>
                <a:spcPts val="5550"/>
              </a:lnSpc>
              <a:buFont typeface="Arial"/>
              <a:buChar char="•"/>
            </a:pPr>
            <a:r>
              <a:rPr lang="en-US" sz="27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docs.google.com/spreadsheets/d/1DUF2isFWsqVSYhbaACYtbgcLi_YjDqpE3GLQIVgkKQg/edit#gid=69851113"/>
              </a:rPr>
              <a:t>Utiliza ferramenta familiar aos servidores.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9598" y="2484795"/>
            <a:ext cx="991128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JUSTIFIC</a:t>
            </a:r>
            <a:r>
              <a:rPr lang="en-US" b="true" sz="8000" u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ATIVA DO SISTEMA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5371" y="-10169515"/>
            <a:ext cx="16757257" cy="11696055"/>
            <a:chOff x="0" y="0"/>
            <a:chExt cx="22343010" cy="15594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171505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9950" y="-1571625"/>
            <a:ext cx="10382250" cy="15830550"/>
            <a:chOff x="0" y="0"/>
            <a:chExt cx="13843000" cy="21107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489200" y="4457700"/>
              <a:ext cx="10591800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0515600"/>
              <a:ext cx="10591800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251200" y="0"/>
              <a:ext cx="10591800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72300" y="2856547"/>
            <a:ext cx="9191296" cy="21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ocs.google.com/spreadsheets/d/1DUF2isFWsqVSYhbaACYtbgcLi_YjDqpE3GLQIVgkKQg/edit#gid=69851113"/>
              </a:rPr>
              <a:t>SPT – Sistema de Pro</a:t>
            </a: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docs.google.com/spreadsheets/d/1DUF2isFWsqVSYhbaACYtbgcLi_YjDqpE3GLQIVgkKQg/edit#gid=69851113"/>
              </a:rPr>
              <a:t>cessamento de Transações (registro de tickets).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docs.google.com/spreadsheets/d/1DUF2isFWsqVSYhbaACYtbgcLi_YjDqpE3GLQIVgkKQg/edit#gid=69851113"/>
              </a:rPr>
              <a:t>Help Desk / Service Desk – atendimento automatizado via IA.</a:t>
            </a: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558743" y="1019175"/>
            <a:ext cx="801841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CLASSIFICAÇÃO DO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8743" y="4871403"/>
            <a:ext cx="8018410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NÍVEIS ORGANIZACIONAIS ATENDIDOS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72300" y="7624128"/>
            <a:ext cx="9191296" cy="152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7" tooltip="https://docs.google.com/spreadsheets/d/1DUF2isFWsqVSYhbaACYtbgcLi_YjDqpE3GLQIVgkKQg/edit#gid=69851113"/>
              </a:rPr>
              <a:t>Operacional:</a:t>
            </a: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docs.google.com/spreadsheets/d/1DUF2isFWsqVSYhbaACYtbgcLi_YjDqpE3GLQIVgkKQg/edit#gid=69851113"/>
              </a:rPr>
              <a:t> registro e encaminhamento de chamados.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9" tooltip="https://docs.google.com/spreadsheets/d/1DUF2isFWsqVSYhbaACYtbgcLi_YjDqpE3GLQIVgkKQg/edit#gid=69851113"/>
              </a:rPr>
              <a:t>Tático:</a:t>
            </a: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10" tooltip="https://docs.google.com/spreadsheets/d/1DUF2isFWsqVSYhbaACYtbgcLi_YjDqpE3GLQIVgkKQg/edit#gid=69851113"/>
              </a:rPr>
              <a:t> geração de dados, estatísticas e padrões de problemas.</a:t>
            </a:r>
          </a:p>
          <a:p>
            <a:pPr algn="l">
              <a:lnSpc>
                <a:spcPts val="32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043" y="9258300"/>
            <a:ext cx="16757257" cy="11696055"/>
            <a:chOff x="0" y="0"/>
            <a:chExt cx="22343010" cy="1559474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15594740"/>
                  </a:moveTo>
                  <a:lnTo>
                    <a:pt x="11171505" y="15594740"/>
                  </a:lnTo>
                  <a:lnTo>
                    <a:pt x="11171505" y="0"/>
                  </a:lnTo>
                  <a:lnTo>
                    <a:pt x="0" y="0"/>
                  </a:lnTo>
                  <a:lnTo>
                    <a:pt x="0" y="1559474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1171505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15594740"/>
                  </a:moveTo>
                  <a:lnTo>
                    <a:pt x="11171505" y="15594740"/>
                  </a:lnTo>
                  <a:lnTo>
                    <a:pt x="11171505" y="0"/>
                  </a:lnTo>
                  <a:lnTo>
                    <a:pt x="0" y="0"/>
                  </a:lnTo>
                  <a:lnTo>
                    <a:pt x="0" y="1559474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369086" y="6134100"/>
            <a:ext cx="2596800" cy="2149003"/>
          </a:xfrm>
          <a:custGeom>
            <a:avLst/>
            <a:gdLst/>
            <a:ahLst/>
            <a:cxnLst/>
            <a:rect r="r" b="b" t="t" l="l"/>
            <a:pathLst>
              <a:path h="2149003" w="2596800">
                <a:moveTo>
                  <a:pt x="0" y="0"/>
                </a:moveTo>
                <a:lnTo>
                  <a:pt x="2596799" y="0"/>
                </a:lnTo>
                <a:lnTo>
                  <a:pt x="2596799" y="2149003"/>
                </a:lnTo>
                <a:lnTo>
                  <a:pt x="0" y="2149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1182" y="6134100"/>
            <a:ext cx="2094301" cy="2149003"/>
          </a:xfrm>
          <a:custGeom>
            <a:avLst/>
            <a:gdLst/>
            <a:ahLst/>
            <a:cxnLst/>
            <a:rect r="r" b="b" t="t" l="l"/>
            <a:pathLst>
              <a:path h="2149003" w="2094301">
                <a:moveTo>
                  <a:pt x="0" y="0"/>
                </a:moveTo>
                <a:lnTo>
                  <a:pt x="2094301" y="0"/>
                </a:lnTo>
                <a:lnTo>
                  <a:pt x="2094301" y="2149003"/>
                </a:lnTo>
                <a:lnTo>
                  <a:pt x="0" y="2149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6951" y="4133850"/>
            <a:ext cx="59610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45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8" tooltip="https://docs.google.com/spreadsheets/d/1DUF2isFWsqVSYhbaACYtbgcLi_YjDqpE3GLQIVgkKQg/edit#gid=69851113"/>
              </a:rPr>
              <a:t>Departamento de TI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88360" y="1447804"/>
            <a:ext cx="991128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SETORES BENEFIC</a:t>
            </a:r>
            <a:r>
              <a:rPr lang="en-US" b="true" sz="8000" u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159250"/>
            <a:ext cx="782866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b="true" sz="3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9" tooltip="https://docs.google.com/spreadsheets/d/1DUF2isFWsqVSYhbaACYtbgcLi_YjDqpE3GLQIVgkKQg/edit#gid=69851113"/>
              </a:rPr>
              <a:t>Setores que utilizam os equipamentos cadastrados.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40487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8303" y="2756399"/>
            <a:ext cx="9336086" cy="557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ocs.google.com/spreadsheets/d/1DUF2isFWsqVSYhbaACYtbgcLi_YjDqpE3GLQIVgkKQg/edit#gid=69851113"/>
              </a:rPr>
              <a:t>Redução do tempo gasto com deslocamentos.</a:t>
            </a:r>
          </a:p>
          <a:p>
            <a:pPr algn="l"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docs.google.com/spreadsheets/d/1DUF2isFWsqVSYhbaACYtbgcLi_YjDqpE3GLQIVgkKQg/edit#gid=69851113"/>
              </a:rPr>
              <a:t>Centralização e categorização das solicitações.</a:t>
            </a:r>
          </a:p>
          <a:p>
            <a:pPr algn="l"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docs.google.com/spreadsheets/d/1DUF2isFWsqVSYhbaACYtbgcLi_YjDqpE3GLQIVgkKQg/edit#gid=69851113"/>
              </a:rPr>
              <a:t>Atendimento mais rápido e organizado.</a:t>
            </a:r>
          </a:p>
          <a:p>
            <a:pPr algn="l"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7" tooltip="https://docs.google.com/spreadsheets/d/1DUF2isFWsqVSYhbaACYtbgcLi_YjDqpE3GLQIVgkKQg/edit#gid=69851113"/>
              </a:rPr>
              <a:t>Aumento da produtividade da equipe e dos servidores.</a:t>
            </a:r>
          </a:p>
          <a:p>
            <a:pPr algn="l"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docs.google.com/spreadsheets/d/1DUF2isFWsqVSYhbaACYtbgcLi_YjDqpE3GLQIVgkKQg/edit#gid=69851113"/>
              </a:rPr>
              <a:t>Priorização de problemas críticos.</a:t>
            </a:r>
          </a:p>
          <a:p>
            <a:pPr algn="l" marL="604521" indent="-302261" lvl="1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9" tooltip="https://docs.google.com/spreadsheets/d/1DUF2isFWsqVSYhbaACYtbgcLi_YjDqpE3GLQIVgkKQg/edit#gid=69851113"/>
              </a:rPr>
              <a:t>Histórico disponível para relatórios e análise.</a:t>
            </a:r>
          </a:p>
          <a:p>
            <a:pPr algn="l">
              <a:lnSpc>
                <a:spcPts val="56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88477" y="1456259"/>
            <a:ext cx="1025201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BENE</a:t>
            </a:r>
            <a:r>
              <a:rPr lang="en-US" b="true" sz="6000" u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FÍCIOS ESPERADOS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665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77228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82407" y="3497998"/>
            <a:ext cx="14154860" cy="3291005"/>
          </a:xfrm>
          <a:custGeom>
            <a:avLst/>
            <a:gdLst/>
            <a:ahLst/>
            <a:cxnLst/>
            <a:rect r="r" b="b" t="t" l="l"/>
            <a:pathLst>
              <a:path h="3291005" w="14154860">
                <a:moveTo>
                  <a:pt x="0" y="0"/>
                </a:moveTo>
                <a:lnTo>
                  <a:pt x="14154861" y="0"/>
                </a:lnTo>
                <a:lnTo>
                  <a:pt x="14154861" y="3291004"/>
                </a:lnTo>
                <a:lnTo>
                  <a:pt x="0" y="3291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88360" y="1019175"/>
            <a:ext cx="991128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8360" y="1019175"/>
            <a:ext cx="991128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FIGMA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04665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77228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87773" y="3933825"/>
            <a:ext cx="9312455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7999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www.figma.com/design/65a1CVdhR7SFSMDMPE7XG1/Chatbot-TI?node-id=0-1&amp;t=AxPi2VKN4B8LYNRa-1"/>
              </a:rPr>
              <a:t>LINK PARA O FIGMA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67808" y="-1844412"/>
            <a:ext cx="5084464" cy="13975825"/>
            <a:chOff x="0" y="0"/>
            <a:chExt cx="6779285" cy="18634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9285" cy="9735266"/>
            </a:xfrm>
            <a:custGeom>
              <a:avLst/>
              <a:gdLst/>
              <a:ahLst/>
              <a:cxnLst/>
              <a:rect r="r" b="b" t="t" l="l"/>
              <a:pathLst>
                <a:path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8899167"/>
              <a:ext cx="6779285" cy="9735266"/>
            </a:xfrm>
            <a:custGeom>
              <a:avLst/>
              <a:gdLst/>
              <a:ahLst/>
              <a:cxnLst/>
              <a:rect r="r" b="b" t="t" l="l"/>
              <a:pathLst>
                <a:path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381422" y="-1600163"/>
            <a:ext cx="5084464" cy="13975825"/>
            <a:chOff x="0" y="0"/>
            <a:chExt cx="6779285" cy="186344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9285" cy="9735266"/>
            </a:xfrm>
            <a:custGeom>
              <a:avLst/>
              <a:gdLst/>
              <a:ahLst/>
              <a:cxnLst/>
              <a:rect r="r" b="b" t="t" l="l"/>
              <a:pathLst>
                <a:path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8899167"/>
              <a:ext cx="6779285" cy="9735266"/>
            </a:xfrm>
            <a:custGeom>
              <a:avLst/>
              <a:gdLst/>
              <a:ahLst/>
              <a:cxnLst/>
              <a:rect r="r" b="b" t="t" l="l"/>
              <a:pathLst>
                <a:path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99860" y="3245354"/>
            <a:ext cx="13288279" cy="6012946"/>
          </a:xfrm>
          <a:custGeom>
            <a:avLst/>
            <a:gdLst/>
            <a:ahLst/>
            <a:cxnLst/>
            <a:rect r="r" b="b" t="t" l="l"/>
            <a:pathLst>
              <a:path h="6012946" w="13288279">
                <a:moveTo>
                  <a:pt x="0" y="0"/>
                </a:moveTo>
                <a:lnTo>
                  <a:pt x="13288280" y="0"/>
                </a:lnTo>
                <a:lnTo>
                  <a:pt x="13288280" y="6012946"/>
                </a:lnTo>
                <a:lnTo>
                  <a:pt x="0" y="60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29115" y="1019175"/>
            <a:ext cx="1122977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 DE TESTE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92309" y="753153"/>
            <a:ext cx="11503383" cy="2708031"/>
            <a:chOff x="0" y="0"/>
            <a:chExt cx="15337844" cy="361070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924908"/>
              <a:ext cx="15337844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5337844" cy="204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SEGURANÇA</a:t>
              </a:r>
              <a:r>
                <a:rPr lang="en-US" sz="5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E GOVERNANÇA DA INFORMAÇÃO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57525" y="-364343"/>
            <a:ext cx="7289965" cy="13974163"/>
            <a:chOff x="0" y="0"/>
            <a:chExt cx="9719954" cy="186322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19954" cy="11160698"/>
            </a:xfrm>
            <a:custGeom>
              <a:avLst/>
              <a:gdLst/>
              <a:ahLst/>
              <a:cxnLst/>
              <a:rect r="r" b="b" t="t" l="l"/>
              <a:pathLst>
                <a:path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8"/>
                  </a:lnTo>
                  <a:lnTo>
                    <a:pt x="0" y="11160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7471519"/>
              <a:ext cx="9719954" cy="11160698"/>
            </a:xfrm>
            <a:custGeom>
              <a:avLst/>
              <a:gdLst/>
              <a:ahLst/>
              <a:cxnLst/>
              <a:rect r="r" b="b" t="t" l="l"/>
              <a:pathLst>
                <a:path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9"/>
                  </a:lnTo>
                  <a:lnTo>
                    <a:pt x="0" y="11160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848153" y="-1843582"/>
            <a:ext cx="7289965" cy="13974163"/>
            <a:chOff x="0" y="0"/>
            <a:chExt cx="9719954" cy="186322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19954" cy="11160698"/>
            </a:xfrm>
            <a:custGeom>
              <a:avLst/>
              <a:gdLst/>
              <a:ahLst/>
              <a:cxnLst/>
              <a:rect r="r" b="b" t="t" l="l"/>
              <a:pathLst>
                <a:path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8"/>
                  </a:lnTo>
                  <a:lnTo>
                    <a:pt x="0" y="11160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7471519"/>
              <a:ext cx="9719954" cy="11160698"/>
            </a:xfrm>
            <a:custGeom>
              <a:avLst/>
              <a:gdLst/>
              <a:ahLst/>
              <a:cxnLst/>
              <a:rect r="r" b="b" t="t" l="l"/>
              <a:pathLst>
                <a:path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9"/>
                  </a:lnTo>
                  <a:lnTo>
                    <a:pt x="0" y="11160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12372" y="2896033"/>
            <a:ext cx="5961069" cy="90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b="true" sz="3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4" tooltip="https://docs.google.com/spreadsheets/d/1DUF2isFWsqVSYhbaACYtbgcLi_YjDqpE3GLQIVgkKQg/edit#gid=69851113"/>
              </a:rPr>
              <a:t>Riscos Identificados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42503" y="2672196"/>
            <a:ext cx="744596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b="true" sz="39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5" tooltip="https://docs.google.com/spreadsheets/d/1DUF2isFWsqVSYhbaACYtbgcLi_YjDqpE3GLQIVgkKQg/edit#gid=69851113"/>
              </a:rPr>
              <a:t>Medidas de Segurança Propostas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12372" y="4493900"/>
            <a:ext cx="5961069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6" tooltip="https://docs.google.com/spreadsheets/d/1DUF2isFWsqVSYhbaACYtbgcLi_YjDqpE3GLQIVgkKQg/edit#gid=69851113"/>
              </a:rPr>
              <a:t>Acesso indevido às informações dos servidores e reclamações.</a:t>
            </a:r>
          </a:p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7" tooltip="https://docs.google.com/spreadsheets/d/1DUF2isFWsqVSYhbaACYtbgcLi_YjDqpE3GLQIVgkKQg/edit#gid=69851113"/>
              </a:rPr>
              <a:t>Perda de dados reg</a:t>
            </a: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8" tooltip="https://docs.google.com/spreadsheets/d/1DUF2isFWsqVSYhbaACYtbgcLi_YjDqpE3GLQIVgkKQg/edit#gid=69851113"/>
              </a:rPr>
              <a:t>istrados pelo chatbot.</a:t>
            </a:r>
          </a:p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9" tooltip="https://docs.google.com/spreadsheets/d/1DUF2isFWsqVSYhbaACYtbgcLi_YjDqpE3GLQIVgkKQg/edit#gid=69851113"/>
              </a:rPr>
              <a:t>Falhas no processo de autenticação durante o registro dos chamados.</a:t>
            </a:r>
          </a:p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0" tooltip="https://docs.google.com/spreadsheets/d/1DUF2isFWsqVSYhbaACYtbgcLi_YjDqpE3GLQIVgkKQg/edit#gid=69851113"/>
              </a:rPr>
              <a:t>Alterações não autorizadas nos registros do sistema.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84949" y="4493900"/>
            <a:ext cx="5961069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1" tooltip="https://docs.google.com/spreadsheets/d/1DUF2isFWsqVSYhbaACYtbgcLi_YjDqpE3GLQIVgkKQg/edit#gid=69851113"/>
              </a:rPr>
              <a:t>Uso de criptografia ponta a ponta no envio e recebimento das mensagens.</a:t>
            </a:r>
          </a:p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2" tooltip="https://docs.google.com/spreadsheets/d/1DUF2isFWsqVSYhbaACYtbgcLi_YjDqpE3GLQIVgkKQg/edit#gid=69851113"/>
              </a:rPr>
              <a:t>Aut</a:t>
            </a: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3" tooltip="https://docs.google.com/spreadsheets/d/1DUF2isFWsqVSYhbaACYtbgcLi_YjDqpE3GLQIVgkKQg/edit#gid=69851113"/>
              </a:rPr>
              <a:t>enticação dos </a:t>
            </a: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4" tooltip="https://docs.google.com/spreadsheets/d/1DUF2isFWsqVSYhbaACYtbgcLi_YjDqpE3GLQIVgkKQg/edit#gid=69851113"/>
              </a:rPr>
              <a:t>servidores públicos e da equipe de TI.</a:t>
            </a:r>
          </a:p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5" tooltip="https://docs.google.com/spreadsheets/d/1DUF2isFWsqVSYhbaACYtbgcLi_YjDqpE3GLQIVgkKQg/edit#gid=69851113"/>
              </a:rPr>
              <a:t>Backups automáticos e frequentes dos dados.</a:t>
            </a:r>
          </a:p>
          <a:p>
            <a:pPr algn="ctr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6" tooltip="https://docs.google.com/spreadsheets/d/1DUF2isFWsqVSYhbaACYtbgcLi_YjDqpE3GLQIVgkKQg/edit#gid=69851113"/>
              </a:rPr>
              <a:t>S</a:t>
            </a: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7" tooltip="https://docs.google.com/spreadsheets/d/1DUF2isFWsqVSYhbaACYtbgcLi_YjDqpE3GLQIVgkKQg/edit#gid=69851113"/>
              </a:rPr>
              <a:t>ervidor protegido com firewall e protocolo HTTPS.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0704" y="592993"/>
            <a:ext cx="7876514" cy="9101014"/>
          </a:xfrm>
          <a:custGeom>
            <a:avLst/>
            <a:gdLst/>
            <a:ahLst/>
            <a:cxnLst/>
            <a:rect r="r" b="b" t="t" l="l"/>
            <a:pathLst>
              <a:path h="9101014" w="7876514">
                <a:moveTo>
                  <a:pt x="0" y="0"/>
                </a:moveTo>
                <a:lnTo>
                  <a:pt x="7876514" y="0"/>
                </a:lnTo>
                <a:lnTo>
                  <a:pt x="7876514" y="9101014"/>
                </a:lnTo>
                <a:lnTo>
                  <a:pt x="0" y="9101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94767" y="4538662"/>
            <a:ext cx="931245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7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92435" y="697310"/>
            <a:ext cx="3994580" cy="96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7"/>
              </a:lnSpc>
              <a:spcBef>
                <a:spcPct val="0"/>
              </a:spcBef>
            </a:pPr>
            <a:r>
              <a:rPr lang="en-US" sz="1325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docs.google.com/spreadsheets/d/1DUF2isFWsqVSYhbaACYtbgcLi_YjDqpE3GLQIVgkKQg/edit#gid=69851113"/>
              </a:rPr>
              <a:t>Forneça uma previsão de três anos, contendo receita e métricas importantes, como o número de clientes e taxa de conversão. Faça uma análise de baixo para cima, não o contrário.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5200" y="205740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61996" y="4448175"/>
            <a:ext cx="1416400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MUITO OBRIGADO!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100354">
            <a:off x="-5281274" y="-842203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DAG5o9xthjA</dc:identifier>
  <dcterms:modified xsi:type="dcterms:W3CDTF">2011-08-01T06:04:30Z</dcterms:modified>
  <cp:revision>1</cp:revision>
  <dc:title>Apresentação Pitch Deck Slides Linhas Geométricas Finas Preto e Laranja</dc:title>
</cp:coreProperties>
</file>